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2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3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38306e407f48b2" /><Relationship Type="http://schemas.openxmlformats.org/officeDocument/2006/relationships/extended-properties" Target="/docProps/app.xml" Id="R48e944eab10345be" /><Relationship Type="http://schemas.openxmlformats.org/officeDocument/2006/relationships/officeDocument" Target="/ppt/presentation.xml" Id="R8d8ed2ddd48546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0eb2909eb54b1c"/>
  </p:sldMasterIdLst>
  <p:notesMasterIdLst>
    <p:notesMasterId xmlns:r="http://schemas.openxmlformats.org/officeDocument/2006/relationships" r:id="R7e450c0b22d94306"/>
  </p:notesMasterIdLst>
  <p:sldIdLst>
    <p:sldId xmlns:r="http://schemas.openxmlformats.org/officeDocument/2006/relationships" id="256" r:id="R924a71aeecf64f22"/>
    <p:sldId xmlns:r="http://schemas.openxmlformats.org/officeDocument/2006/relationships" id="257" r:id="R7767c8aa031a4756"/>
    <p:sldId xmlns:r="http://schemas.openxmlformats.org/officeDocument/2006/relationships" id="258" r:id="R458fb3b0f0144264"/>
    <p:sldId xmlns:r="http://schemas.openxmlformats.org/officeDocument/2006/relationships" id="259" r:id="Rce6a3fb1b39945f3"/>
    <p:sldId xmlns:r="http://schemas.openxmlformats.org/officeDocument/2006/relationships" id="260" r:id="R0f65cec583c6479f"/>
    <p:sldId xmlns:r="http://schemas.openxmlformats.org/officeDocument/2006/relationships" id="261" r:id="R4b6342b0a379422f"/>
    <p:sldId xmlns:r="http://schemas.openxmlformats.org/officeDocument/2006/relationships" id="262" r:id="R976b6e5b3a8f42ff"/>
    <p:sldId xmlns:r="http://schemas.openxmlformats.org/officeDocument/2006/relationships" id="263" r:id="Reca285a0d84644be"/>
    <p:sldId xmlns:r="http://schemas.openxmlformats.org/officeDocument/2006/relationships" id="264" r:id="Rd6906770cde44ff9"/>
    <p:sldId xmlns:r="http://schemas.openxmlformats.org/officeDocument/2006/relationships" id="265" r:id="R8e0044ebf79c474f"/>
    <p:sldId xmlns:r="http://schemas.openxmlformats.org/officeDocument/2006/relationships" id="266" r:id="Rd310349174754ca4"/>
    <p:sldId xmlns:r="http://schemas.openxmlformats.org/officeDocument/2006/relationships" id="267" r:id="Rb08c8ca051934a78"/>
    <p:sldId xmlns:r="http://schemas.openxmlformats.org/officeDocument/2006/relationships" id="268" r:id="R77d12103352c4b0c"/>
    <p:sldId xmlns:r="http://schemas.openxmlformats.org/officeDocument/2006/relationships" id="269" r:id="Rc6b5669cf71e4e3d"/>
    <p:sldId xmlns:r="http://schemas.openxmlformats.org/officeDocument/2006/relationships" id="270" r:id="R5151bbc2f68e4d69"/>
    <p:sldId xmlns:r="http://schemas.openxmlformats.org/officeDocument/2006/relationships" id="271" r:id="Rb9f97bb1d64d4b10"/>
    <p:sldId xmlns:r="http://schemas.openxmlformats.org/officeDocument/2006/relationships" id="272" r:id="R1089b440219548e2"/>
    <p:sldId xmlns:r="http://schemas.openxmlformats.org/officeDocument/2006/relationships" id="273" r:id="R192c4dfd03e246d3"/>
    <p:sldId xmlns:r="http://schemas.openxmlformats.org/officeDocument/2006/relationships" id="274" r:id="R86085152fabf484e"/>
    <p:sldId xmlns:r="http://schemas.openxmlformats.org/officeDocument/2006/relationships" id="275" r:id="R1d30531d80264057"/>
    <p:sldId xmlns:r="http://schemas.openxmlformats.org/officeDocument/2006/relationships" id="276" r:id="Ra0961a75f6a24fb2"/>
    <p:sldId xmlns:r="http://schemas.openxmlformats.org/officeDocument/2006/relationships" id="277" r:id="Rbb4693a5b7c140a9"/>
    <p:sldId xmlns:r="http://schemas.openxmlformats.org/officeDocument/2006/relationships" id="278" r:id="R37dfee80b4784883"/>
    <p:sldId xmlns:r="http://schemas.openxmlformats.org/officeDocument/2006/relationships" id="279" r:id="Rccb910fee49b4cb0"/>
    <p:sldId xmlns:r="http://schemas.openxmlformats.org/officeDocument/2006/relationships" id="280" r:id="Rff00496fd2524c9c"/>
    <p:sldId xmlns:r="http://schemas.openxmlformats.org/officeDocument/2006/relationships" id="281" r:id="R9cc3d310dccb4dc9"/>
    <p:sldId xmlns:r="http://schemas.openxmlformats.org/officeDocument/2006/relationships" id="282" r:id="R8162162707884aad"/>
    <p:sldId xmlns:r="http://schemas.openxmlformats.org/officeDocument/2006/relationships" id="283" r:id="R391b243861b6445c"/>
    <p:sldId xmlns:r="http://schemas.openxmlformats.org/officeDocument/2006/relationships" id="284" r:id="R4954b0a75ec944d3"/>
    <p:sldId xmlns:r="http://schemas.openxmlformats.org/officeDocument/2006/relationships" id="285" r:id="R5fc1b46c73d6443b"/>
    <p:sldId xmlns:r="http://schemas.openxmlformats.org/officeDocument/2006/relationships" id="286" r:id="Ra9ff9ff968ec41ad"/>
    <p:sldId xmlns:r="http://schemas.openxmlformats.org/officeDocument/2006/relationships" id="287" r:id="Ra8ab5f963f8c4820"/>
    <p:sldId xmlns:r="http://schemas.openxmlformats.org/officeDocument/2006/relationships" id="288" r:id="R7a045ab221f54461"/>
    <p:sldId xmlns:r="http://schemas.openxmlformats.org/officeDocument/2006/relationships" id="289" r:id="R7cb99e94f32f43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cdee3b01e74f5c" /><Relationship Type="http://schemas.openxmlformats.org/officeDocument/2006/relationships/slideMaster" Target="/ppt/slideMasters/slideMaster1.xml" Id="R150eb2909eb54b1c" /><Relationship Type="http://schemas.openxmlformats.org/officeDocument/2006/relationships/notesMaster" Target="/ppt/notesMasters/notesMaster1.xml" Id="R7e450c0b22d94306" /><Relationship Type="http://schemas.openxmlformats.org/officeDocument/2006/relationships/presProps" Target="/ppt/presProps.xml" Id="R1a32c33a1d0e4eec" /><Relationship Type="http://schemas.openxmlformats.org/officeDocument/2006/relationships/tableStyles" Target="/ppt/tableStyles.xml" Id="R9c196e2950ec4d20" /><Relationship Type="http://schemas.openxmlformats.org/officeDocument/2006/relationships/slide" Target="/ppt/slides/slide1.xml" Id="R924a71aeecf64f22" /><Relationship Type="http://schemas.openxmlformats.org/officeDocument/2006/relationships/slide" Target="/ppt/slides/slide2.xml" Id="R7767c8aa031a4756" /><Relationship Type="http://schemas.openxmlformats.org/officeDocument/2006/relationships/slide" Target="/ppt/slides/slide3.xml" Id="R458fb3b0f0144264" /><Relationship Type="http://schemas.openxmlformats.org/officeDocument/2006/relationships/slide" Target="/ppt/slides/slide4.xml" Id="Rce6a3fb1b39945f3" /><Relationship Type="http://schemas.openxmlformats.org/officeDocument/2006/relationships/slide" Target="/ppt/slides/slide5.xml" Id="R0f65cec583c6479f" /><Relationship Type="http://schemas.openxmlformats.org/officeDocument/2006/relationships/slide" Target="/ppt/slides/slide6.xml" Id="R4b6342b0a379422f" /><Relationship Type="http://schemas.openxmlformats.org/officeDocument/2006/relationships/slide" Target="/ppt/slides/slide7.xml" Id="R976b6e5b3a8f42ff" /><Relationship Type="http://schemas.openxmlformats.org/officeDocument/2006/relationships/slide" Target="/ppt/slides/slide8.xml" Id="Reca285a0d84644be" /><Relationship Type="http://schemas.openxmlformats.org/officeDocument/2006/relationships/slide" Target="/ppt/slides/slide9.xml" Id="Rd6906770cde44ff9" /><Relationship Type="http://schemas.openxmlformats.org/officeDocument/2006/relationships/slide" Target="/ppt/slides/slide10.xml" Id="R8e0044ebf79c474f" /><Relationship Type="http://schemas.openxmlformats.org/officeDocument/2006/relationships/slide" Target="/ppt/slides/slide11.xml" Id="Rd310349174754ca4" /><Relationship Type="http://schemas.openxmlformats.org/officeDocument/2006/relationships/slide" Target="/ppt/slides/slide12.xml" Id="Rb08c8ca051934a78" /><Relationship Type="http://schemas.openxmlformats.org/officeDocument/2006/relationships/slide" Target="/ppt/slides/slide13.xml" Id="R77d12103352c4b0c" /><Relationship Type="http://schemas.openxmlformats.org/officeDocument/2006/relationships/slide" Target="/ppt/slides/slide14.xml" Id="Rc6b5669cf71e4e3d" /><Relationship Type="http://schemas.openxmlformats.org/officeDocument/2006/relationships/slide" Target="/ppt/slides/slide15.xml" Id="R5151bbc2f68e4d69" /><Relationship Type="http://schemas.openxmlformats.org/officeDocument/2006/relationships/slide" Target="/ppt/slides/slide16.xml" Id="Rb9f97bb1d64d4b10" /><Relationship Type="http://schemas.openxmlformats.org/officeDocument/2006/relationships/slide" Target="/ppt/slides/slide17.xml" Id="R1089b440219548e2" /><Relationship Type="http://schemas.openxmlformats.org/officeDocument/2006/relationships/slide" Target="/ppt/slides/slide18.xml" Id="R192c4dfd03e246d3" /><Relationship Type="http://schemas.openxmlformats.org/officeDocument/2006/relationships/slide" Target="/ppt/slides/slide19.xml" Id="R86085152fabf484e" /><Relationship Type="http://schemas.openxmlformats.org/officeDocument/2006/relationships/slide" Target="/ppt/slides/slide20.xml" Id="R1d30531d80264057" /><Relationship Type="http://schemas.openxmlformats.org/officeDocument/2006/relationships/slide" Target="/ppt/slides/slide21.xml" Id="Ra0961a75f6a24fb2" /><Relationship Type="http://schemas.openxmlformats.org/officeDocument/2006/relationships/slide" Target="/ppt/slides/slide22.xml" Id="Rbb4693a5b7c140a9" /><Relationship Type="http://schemas.openxmlformats.org/officeDocument/2006/relationships/slide" Target="/ppt/slides/slide23.xml" Id="R37dfee80b4784883" /><Relationship Type="http://schemas.openxmlformats.org/officeDocument/2006/relationships/slide" Target="/ppt/slides/slide24.xml" Id="Rccb910fee49b4cb0" /><Relationship Type="http://schemas.openxmlformats.org/officeDocument/2006/relationships/slide" Target="/ppt/slides/slide25.xml" Id="Rff00496fd2524c9c" /><Relationship Type="http://schemas.openxmlformats.org/officeDocument/2006/relationships/slide" Target="/ppt/slides/slide26.xml" Id="R9cc3d310dccb4dc9" /><Relationship Type="http://schemas.openxmlformats.org/officeDocument/2006/relationships/slide" Target="/ppt/slides/slide27.xml" Id="R8162162707884aad" /><Relationship Type="http://schemas.openxmlformats.org/officeDocument/2006/relationships/slide" Target="/ppt/slides/slide28.xml" Id="R391b243861b6445c" /><Relationship Type="http://schemas.openxmlformats.org/officeDocument/2006/relationships/slide" Target="/ppt/slides/slide29.xml" Id="R4954b0a75ec944d3" /><Relationship Type="http://schemas.openxmlformats.org/officeDocument/2006/relationships/slide" Target="/ppt/slides/slide30.xml" Id="R5fc1b46c73d6443b" /><Relationship Type="http://schemas.openxmlformats.org/officeDocument/2006/relationships/slide" Target="/ppt/slides/slide31.xml" Id="Ra9ff9ff968ec41ad" /><Relationship Type="http://schemas.openxmlformats.org/officeDocument/2006/relationships/slide" Target="/ppt/slides/slide32.xml" Id="Ra8ab5f963f8c4820" /><Relationship Type="http://schemas.openxmlformats.org/officeDocument/2006/relationships/slide" Target="/ppt/slides/slide33.xml" Id="R7a045ab221f54461" /><Relationship Type="http://schemas.openxmlformats.org/officeDocument/2006/relationships/slide" Target="/ppt/slides/slide34.xml" Id="R7cb99e94f32f43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fc646388274b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32e71dff944655" /><Relationship Type="http://schemas.openxmlformats.org/officeDocument/2006/relationships/notesMaster" Target="/ppt/notesMasters/notesMaster1.xml" Id="Rbbc939a8b58d48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545b6cfe8e44be" /><Relationship Type="http://schemas.openxmlformats.org/officeDocument/2006/relationships/notesMaster" Target="/ppt/notesMasters/notesMaster1.xml" Id="Rdb38d5a6f8b64a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4a928293d041da" /><Relationship Type="http://schemas.openxmlformats.org/officeDocument/2006/relationships/notesMaster" Target="/ppt/notesMasters/notesMaster1.xml" Id="R44681c2114644d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53ae47eea4441c" /><Relationship Type="http://schemas.openxmlformats.org/officeDocument/2006/relationships/notesMaster" Target="/ppt/notesMasters/notesMaster1.xml" Id="Re664a6ce81844c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965a9c5bc146a1" /><Relationship Type="http://schemas.openxmlformats.org/officeDocument/2006/relationships/notesMaster" Target="/ppt/notesMasters/notesMaster1.xml" Id="R480a80fcc7874e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1a797009284b6b" /><Relationship Type="http://schemas.openxmlformats.org/officeDocument/2006/relationships/notesMaster" Target="/ppt/notesMasters/notesMaster1.xml" Id="Ra86d80611f7045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c2a935faa541c2" /><Relationship Type="http://schemas.openxmlformats.org/officeDocument/2006/relationships/notesMaster" Target="/ppt/notesMasters/notesMaster1.xml" Id="R831796edc8614a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1aaea7610a48bf" /><Relationship Type="http://schemas.openxmlformats.org/officeDocument/2006/relationships/notesMaster" Target="/ppt/notesMasters/notesMaster1.xml" Id="Ra5b2f0862de94a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0d9600c8944ce7" /><Relationship Type="http://schemas.openxmlformats.org/officeDocument/2006/relationships/notesMaster" Target="/ppt/notesMasters/notesMaster1.xml" Id="Rbeffc29487464a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8491b5d6ee4410" /><Relationship Type="http://schemas.openxmlformats.org/officeDocument/2006/relationships/notesMaster" Target="/ppt/notesMasters/notesMaster1.xml" Id="R80eb6810cae941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a788f6acbb42a2" /><Relationship Type="http://schemas.openxmlformats.org/officeDocument/2006/relationships/notesMaster" Target="/ppt/notesMasters/notesMaster1.xml" Id="Rac5f9340b49746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8d501d1c734063" /><Relationship Type="http://schemas.openxmlformats.org/officeDocument/2006/relationships/notesMaster" Target="/ppt/notesMasters/notesMaster1.xml" Id="R4af73c64a50347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acb4d16b3c4a3f" /><Relationship Type="http://schemas.openxmlformats.org/officeDocument/2006/relationships/notesMaster" Target="/ppt/notesMasters/notesMaster1.xml" Id="R0680d5b5d7cc48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637107cd56486f" /><Relationship Type="http://schemas.openxmlformats.org/officeDocument/2006/relationships/notesMaster" Target="/ppt/notesMasters/notesMaster1.xml" Id="R8e5bbc6ba8914b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544b5123a04f6f" /><Relationship Type="http://schemas.openxmlformats.org/officeDocument/2006/relationships/notesMaster" Target="/ppt/notesMasters/notesMaster1.xml" Id="Rf881576c58ac40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c3fee804564120" /><Relationship Type="http://schemas.openxmlformats.org/officeDocument/2006/relationships/notesMaster" Target="/ppt/notesMasters/notesMaster1.xml" Id="Rc47ae4f4f93a48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92fd5d0c4a4f76" /><Relationship Type="http://schemas.openxmlformats.org/officeDocument/2006/relationships/notesMaster" Target="/ppt/notesMasters/notesMaster1.xml" Id="Rc5dcfb6ca98a4b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f1c8501b274166" /><Relationship Type="http://schemas.openxmlformats.org/officeDocument/2006/relationships/notesMaster" Target="/ppt/notesMasters/notesMaster1.xml" Id="R4928223fdf5648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f853206b74744be" /><Relationship Type="http://schemas.openxmlformats.org/officeDocument/2006/relationships/notesMaster" Target="/ppt/notesMasters/notesMaster1.xml" Id="R126b9300d4a740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c2fc1614e14e7a" /><Relationship Type="http://schemas.openxmlformats.org/officeDocument/2006/relationships/notesMaster" Target="/ppt/notesMasters/notesMaster1.xml" Id="R634432d779e84c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ec8c72833d47f3" /><Relationship Type="http://schemas.openxmlformats.org/officeDocument/2006/relationships/notesMaster" Target="/ppt/notesMasters/notesMaster1.xml" Id="Rb00ecfdc34d54c2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6206cbd0ed48b4" /><Relationship Type="http://schemas.openxmlformats.org/officeDocument/2006/relationships/notesMaster" Target="/ppt/notesMasters/notesMaster1.xml" Id="R350f9528067b4d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9e99319eade40f0" /><Relationship Type="http://schemas.openxmlformats.org/officeDocument/2006/relationships/notesMaster" Target="/ppt/notesMasters/notesMaster1.xml" Id="Rf8d18fc7a55b4c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a24890411034dbf" /><Relationship Type="http://schemas.openxmlformats.org/officeDocument/2006/relationships/notesMaster" Target="/ppt/notesMasters/notesMaster1.xml" Id="Rb9d415713b784f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61a65b706b04f0f" /><Relationship Type="http://schemas.openxmlformats.org/officeDocument/2006/relationships/notesMaster" Target="/ppt/notesMasters/notesMaster1.xml" Id="R7561bc52eb284a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212771060804b34" /><Relationship Type="http://schemas.openxmlformats.org/officeDocument/2006/relationships/notesMaster" Target="/ppt/notesMasters/notesMaster1.xml" Id="R0e177f7246324bd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e30c610b01469b" /><Relationship Type="http://schemas.openxmlformats.org/officeDocument/2006/relationships/notesMaster" Target="/ppt/notesMasters/notesMaster1.xml" Id="Re757cb8f9dcb4f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c3322babce74b91" /><Relationship Type="http://schemas.openxmlformats.org/officeDocument/2006/relationships/notesMaster" Target="/ppt/notesMasters/notesMaster1.xml" Id="Rb9feb322f3f0434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9787a20bf6446c" /><Relationship Type="http://schemas.openxmlformats.org/officeDocument/2006/relationships/notesMaster" Target="/ppt/notesMasters/notesMaster1.xml" Id="R3bd49969356a473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42bf9b16c93460a" /><Relationship Type="http://schemas.openxmlformats.org/officeDocument/2006/relationships/notesMaster" Target="/ppt/notesMasters/notesMaster1.xml" Id="Re7d663b131144b0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2d35c06dcd349ef" /><Relationship Type="http://schemas.openxmlformats.org/officeDocument/2006/relationships/notesMaster" Target="/ppt/notesMasters/notesMaster1.xml" Id="R7075043c8325410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708048d1ba4442b" /><Relationship Type="http://schemas.openxmlformats.org/officeDocument/2006/relationships/notesMaster" Target="/ppt/notesMasters/notesMaster1.xml" Id="R77023d34a19041c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ea022a00d14842" /><Relationship Type="http://schemas.openxmlformats.org/officeDocument/2006/relationships/notesMaster" Target="/ppt/notesMasters/notesMaster1.xml" Id="R1f3551a70d494a7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245aec5f62545ef" /><Relationship Type="http://schemas.openxmlformats.org/officeDocument/2006/relationships/notesMaster" Target="/ppt/notesMasters/notesMaster1.xml" Id="Rc9905c3bf3ea4e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开场：研究一家公司，需要把业务、利润和市场观察连起来。本项目以可核对的计算为基础，为研究员提供交互式研究工作台。</a:t>
            </a:r>
          </a:p>
          <a:p xmlns:a="http://schemas.openxmlformats.org/drawingml/2006/main">
            <a:r>
              <a:t>依据：docs/比赛必填信息.md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依据：README.md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依据：README.md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依据：webui.py；report_context.py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直接通过网页操作截取真实界面。企业数据来自现有财报与评分快照，未展开Wind本地补充区。截图为图片对象，说明文字可编辑。</a:t>
            </a:r>
          </a:p>
          <a:p xmlns:a="http://schemas.openxmlformats.org/drawingml/2006/main">
            <a:r>
              <a:t>依据：本地项目 http://localhost:7862/；截图时间2026-09-09；deck-welcome-crop.png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依据：onboarding.py；output/playwright/deck-guide.png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依据：webui.py；onboarding.py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依据：scoring.py；docs/五维评分规则.md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加权ROE的采集口径须核验。增长只对盈利且可比的基期计算；亏损收窄不当成普通盈利增长。</a:t>
            </a:r>
          </a:p>
          <a:p xmlns:a="http://schemas.openxmlformats.org/drawingml/2006/main">
            <a:r>
              <a:t>依据：scoring.py；docs/五维评分规则.md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依据：scoring.py；docs/五维评分规则.md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依据：scoring.py；tools/technical.py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依据：scoring.py；score_data.py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依据：scoring.py；docs/五维评分规则.md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依据：scoring.py；score_view.py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直接通过网页操作截取真实界面。企业数据来自现有财报与评分快照，未展开Wind本地补充区。截图为图片对象，说明文字可编辑。</a:t>
            </a:r>
          </a:p>
          <a:p xmlns:a="http://schemas.openxmlformats.org/drawingml/2006/main">
            <a:r>
              <a:t>依据：本地项目 http://localhost:7862/；截图时间2026-09-09；deck-score.png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依据：charts.py；onboarding.py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直接通过网页操作截取真实界面。企业数据来自现有财报与评分快照，未展开Wind本地补充区。截图为图片对象，说明文字可编辑。</a:t>
            </a:r>
          </a:p>
          <a:p xmlns:a="http://schemas.openxmlformats.org/drawingml/2006/main">
            <a:r>
              <a:t>依据：本地项目 http://localhost:7862/；截图时间2026-09-09；deck-business.png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依据：tools/profit_analysis.py；profit_charts.py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依据：tools/profit_analysis.py；output/playwright/deck-profit.png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依据：profit_charts.py；tools/profit_analysis.py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直接通过网页操作截取真实界面。企业数据来自现有财报与评分快照，未展开Wind本地补充区。截图为图片对象，说明文字可编辑。</a:t>
            </a:r>
          </a:p>
          <a:p xmlns:a="http://schemas.openxmlformats.org/drawingml/2006/main">
            <a:r>
              <a:t>依据：本地项目 http://localhost:7862/；截图时间2026-09-09；deck-segment.png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依据：tools/profit_scenarios.py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依据：tools/profit_scenarios.py；tests/profit_workspace.browser.js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依据：tools/profit_scenarios.py；output/playwright/deck-scenario.png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依据：tools/sensitivity_core.py；tools/sector_matrix.py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直接通过网页操作截取真实界面。企业数据来自现有财报与评分快照，未展开Wind本地补充区。截图为图片对象，说明文字可编辑。</a:t>
            </a:r>
          </a:p>
          <a:p xmlns:a="http://schemas.openxmlformats.org/drawingml/2006/main">
            <a:r>
              <a:t>依据：本地项目 http://localhost:7862/；截图时间2026-09-09；deck-matrix.png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依据：agent.py；report.py；report_context.py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依据：report_context.py；research_evidence.py；score_data.py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依据：README.md；docs/Wind本地补充说明.md；docs/Wind前收盘价核验.md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依据：output/evaluation_v2/summary.json；README.md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依据：tests/；docs/新手引导说明.md；README.md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依据：docs/参赛填写草稿.md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依据：docs/比赛必填信息.md；项目源码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依据：README.md；webui.py</a:t>
            </a:r>
          </a:p>
          <a:p xmlns:a="http://schemas.openxmlformats.org/drawingml/2006/main">
            <a:r>
              <a:t>版本：2026-09-09；虚构算例与真实界面分开标注，未使用Wind原始数据。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511b110024c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63c2282100483e" /><Relationship Type="http://schemas.openxmlformats.org/officeDocument/2006/relationships/slideLayout" Target="/ppt/slideLayouts/slideLayout1.xml" Id="R0c0c4e888eaa49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0c4e888eaa49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3572b387c4977" /><Relationship Type="http://schemas.openxmlformats.org/officeDocument/2006/relationships/image" Target="/ppt/media/image.jpeg" Id="Rcc29b3d29c184d27" /><Relationship Type="http://schemas.openxmlformats.org/officeDocument/2006/relationships/notesSlide" Target="/ppt/notesSlides/notesSlide1.xml" Id="Rf4a7edb35697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34a0ceee0485e" /><Relationship Type="http://schemas.openxmlformats.org/officeDocument/2006/relationships/notesSlide" Target="/ppt/notesSlides/notesSlide2.xml" Id="R9266f8baf34c4f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588246a454c05" /><Relationship Type="http://schemas.openxmlformats.org/officeDocument/2006/relationships/notesSlide" Target="/ppt/notesSlides/notesSlide3.xml" Id="R107a52aa75bf41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0e721da754081" /><Relationship Type="http://schemas.openxmlformats.org/officeDocument/2006/relationships/notesSlide" Target="/ppt/notesSlides/notesSlide4.xml" Id="Rcd0b70cec41642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e09ab84ce4640" /><Relationship Type="http://schemas.openxmlformats.org/officeDocument/2006/relationships/image" Target="/ppt/media/image.png" Id="Ra41e3b9ebf0f459b" /><Relationship Type="http://schemas.openxmlformats.org/officeDocument/2006/relationships/notesSlide" Target="/ppt/notesSlides/notesSlide5.xml" Id="R7865c2a68b8840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a5fd14c654dda" /><Relationship Type="http://schemas.openxmlformats.org/officeDocument/2006/relationships/image" Target="/ppt/media/image2.png" Id="Re040d06ebfb64926" /><Relationship Type="http://schemas.openxmlformats.org/officeDocument/2006/relationships/notesSlide" Target="/ppt/notesSlides/notesSlide6.xml" Id="R916067d0361540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c4ce99fd64cff" /><Relationship Type="http://schemas.openxmlformats.org/officeDocument/2006/relationships/notesSlide" Target="/ppt/notesSlides/notesSlide7.xml" Id="R04a3e2a02fea42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c45b174734bb8" /><Relationship Type="http://schemas.openxmlformats.org/officeDocument/2006/relationships/notesSlide" Target="/ppt/notesSlides/notesSlide8.xml" Id="R1c98ae79e5da4c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96a30a6d048c4" /><Relationship Type="http://schemas.openxmlformats.org/officeDocument/2006/relationships/notesSlide" Target="/ppt/notesSlides/notesSlide9.xml" Id="R72d4de4504b14f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6115ee829463c" /><Relationship Type="http://schemas.openxmlformats.org/officeDocument/2006/relationships/notesSlide" Target="/ppt/notesSlides/notesSlide10.xml" Id="R4faedb56ef8d40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0ff0b3af6491d" /><Relationship Type="http://schemas.openxmlformats.org/officeDocument/2006/relationships/notesSlide" Target="/ppt/notesSlides/notesSlide11.xml" Id="R94907a7ca42b47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dc842d4544277" /><Relationship Type="http://schemas.openxmlformats.org/officeDocument/2006/relationships/notesSlide" Target="/ppt/notesSlides/notesSlide12.xml" Id="R8ec1f081fdd24e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2868791f64863" /><Relationship Type="http://schemas.openxmlformats.org/officeDocument/2006/relationships/notesSlide" Target="/ppt/notesSlides/notesSlide13.xml" Id="Rede317cac89e41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914bb46f14bba" /><Relationship Type="http://schemas.openxmlformats.org/officeDocument/2006/relationships/chart" Target="/ppt/slides/charts/chart1.xml" Id="R58a6d972bc29408b" /><Relationship Type="http://schemas.openxmlformats.org/officeDocument/2006/relationships/notesSlide" Target="/ppt/notesSlides/notesSlide14.xml" Id="Rc2197df5859f4a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34e633fde4977" /><Relationship Type="http://schemas.openxmlformats.org/officeDocument/2006/relationships/image" Target="/ppt/media/image3.png" Id="R8689d78e56cf4168" /><Relationship Type="http://schemas.openxmlformats.org/officeDocument/2006/relationships/notesSlide" Target="/ppt/notesSlides/notesSlide15.xml" Id="Rbc109d5516894b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93584cf314475" /><Relationship Type="http://schemas.openxmlformats.org/officeDocument/2006/relationships/notesSlide" Target="/ppt/notesSlides/notesSlide16.xml" Id="R8dfa349beb1944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ce8c7e8c34ac4" /><Relationship Type="http://schemas.openxmlformats.org/officeDocument/2006/relationships/image" Target="/ppt/media/image4.png" Id="R48cf4a35e5144024" /><Relationship Type="http://schemas.openxmlformats.org/officeDocument/2006/relationships/notesSlide" Target="/ppt/notesSlides/notesSlide17.xml" Id="R28c858c04b3b47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1e10ecfa24570" /><Relationship Type="http://schemas.openxmlformats.org/officeDocument/2006/relationships/notesSlide" Target="/ppt/notesSlides/notesSlide18.xml" Id="Re6d97a75c2744d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bc98513a140b9" /><Relationship Type="http://schemas.openxmlformats.org/officeDocument/2006/relationships/image" Target="/ppt/media/image5.png" Id="R121a6c5524fa46fd" /><Relationship Type="http://schemas.openxmlformats.org/officeDocument/2006/relationships/notesSlide" Target="/ppt/notesSlides/notesSlide19.xml" Id="R22a49fdedddf4d0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3075db99e4824" /><Relationship Type="http://schemas.openxmlformats.org/officeDocument/2006/relationships/chart" Target="/ppt/slides/charts/chart2.xml" Id="Rab83a8c182544988" /><Relationship Type="http://schemas.openxmlformats.org/officeDocument/2006/relationships/notesSlide" Target="/ppt/notesSlides/notesSlide20.xml" Id="R4d36133921b042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fa04b9bcd4b4c" /><Relationship Type="http://schemas.openxmlformats.org/officeDocument/2006/relationships/image" Target="/ppt/media/image6.png" Id="Rba5ebca5a52d47b2" /><Relationship Type="http://schemas.openxmlformats.org/officeDocument/2006/relationships/notesSlide" Target="/ppt/notesSlides/notesSlide21.xml" Id="Rdf9879b16b7742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4d0278ab34b2e" /><Relationship Type="http://schemas.openxmlformats.org/officeDocument/2006/relationships/notesSlide" Target="/ppt/notesSlides/notesSlide22.xml" Id="R3cf1d651f23c4a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5a0e9cf394e58" /><Relationship Type="http://schemas.openxmlformats.org/officeDocument/2006/relationships/notesSlide" Target="/ppt/notesSlides/notesSlide23.xml" Id="R8590d4bbb80a46c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d7f16162a4900" /><Relationship Type="http://schemas.openxmlformats.org/officeDocument/2006/relationships/image" Target="/ppt/media/image7.png" Id="Rd805c1b9a6564211" /><Relationship Type="http://schemas.openxmlformats.org/officeDocument/2006/relationships/notesSlide" Target="/ppt/notesSlides/notesSlide24.xml" Id="R35850b3b7f8543b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fce6f0c0e4c22" /><Relationship Type="http://schemas.openxmlformats.org/officeDocument/2006/relationships/notesSlide" Target="/ppt/notesSlides/notesSlide25.xml" Id="R0b91196dc58e43a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b7bd768294125" /><Relationship Type="http://schemas.openxmlformats.org/officeDocument/2006/relationships/image" Target="/ppt/media/image8.png" Id="Rba3c754b12754365" /><Relationship Type="http://schemas.openxmlformats.org/officeDocument/2006/relationships/notesSlide" Target="/ppt/notesSlides/notesSlide26.xml" Id="R007a9c1568ae448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cd0967a644f16" /><Relationship Type="http://schemas.openxmlformats.org/officeDocument/2006/relationships/notesSlide" Target="/ppt/notesSlides/notesSlide27.xml" Id="Rd9c0f32f67d14ba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877e7e7674047" /><Relationship Type="http://schemas.openxmlformats.org/officeDocument/2006/relationships/notesSlide" Target="/ppt/notesSlides/notesSlide28.xml" Id="Ref59cfc0bb1e429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2e17470794e13" /><Relationship Type="http://schemas.openxmlformats.org/officeDocument/2006/relationships/notesSlide" Target="/ppt/notesSlides/notesSlide29.xml" Id="R2d23fa8bee644c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04ad448284231" /><Relationship Type="http://schemas.openxmlformats.org/officeDocument/2006/relationships/chart" Target="/ppt/slides/charts/chart3.xml" Id="R67ad4aaa02004288" /><Relationship Type="http://schemas.openxmlformats.org/officeDocument/2006/relationships/notesSlide" Target="/ppt/notesSlides/notesSlide30.xml" Id="R13ea61eae1ca466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ce33d3fe34ad3" /><Relationship Type="http://schemas.openxmlformats.org/officeDocument/2006/relationships/notesSlide" Target="/ppt/notesSlides/notesSlide31.xml" Id="R589104f72ff5472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823497b1c4f03" /><Relationship Type="http://schemas.openxmlformats.org/officeDocument/2006/relationships/notesSlide" Target="/ppt/notesSlides/notesSlide32.xml" Id="R612f14a620ea49c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97ea443de4e97" /><Relationship Type="http://schemas.openxmlformats.org/officeDocument/2006/relationships/notesSlide" Target="/ppt/notesSlides/notesSlide33.xml" Id="R50406bbabbe347c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0909fc8134c68" /><Relationship Type="http://schemas.openxmlformats.org/officeDocument/2006/relationships/notesSlide" Target="/ppt/notesSlides/notesSlide34.xml" Id="Rdb98151122cf470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虚构公司A</c:v>
          </c:tx>
          <c:spPr>
            <a:solidFill xmlns:a="http://schemas.openxmlformats.org/drawingml/2006/main">
              <a:srgbClr val="237D7B"/>
            </a:solidFill>
          </c:spPr>
          <c:cat>
            <c:strRef>
              <c:f>'Chart Data'!$A$2:$A$6</c:f>
              <c:strCache>
                <c:ptCount val="5"/>
                <c:pt idx="0">
                  <c:v>基本面</c:v>
                </c:pt>
                <c:pt idx="1">
                  <c:v>估值</c:v>
                </c:pt>
                <c:pt idx="2">
                  <c:v>技术面</c:v>
                </c:pt>
                <c:pt idx="3">
                  <c:v>资金面</c:v>
                </c:pt>
                <c:pt idx="4">
                  <c:v>安全度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83</c:v>
                </c:pt>
                <c:pt idx="1">
                  <c:v>75</c:v>
                </c:pt>
                <c:pt idx="2">
                  <c:v>90</c:v>
                </c:pt>
                <c:pt idx="3">
                  <c:v>54</c:v>
                </c:pt>
                <c:pt idx="4">
                  <c:v>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23B4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收入</c:v>
          </c:tx>
          <c:spPr>
            <a:solidFill xmlns:a="http://schemas.openxmlformats.org/drawingml/2006/main">
              <a:srgbClr val="92B5AF"/>
            </a:solidFill>
          </c:spPr>
          <c:cat>
            <c:strRef>
              <c:f>'Chart Data'!$A$2:$A$4</c:f>
              <c:strCache>
                <c:ptCount val="3"/>
                <c:pt idx="0">
                  <c:v>业务A</c:v>
                </c:pt>
                <c:pt idx="1">
                  <c:v>业务B</c:v>
                </c:pt>
                <c:pt idx="2">
                  <c:v>业务C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v>毛利</c:v>
          </c:tx>
          <c:spPr>
            <a:solidFill xmlns:a="http://schemas.openxmlformats.org/drawingml/2006/main">
              <a:srgbClr val="A6653F"/>
            </a:solidFill>
          </c:spPr>
          <c:cat>
            <c:strRef>
              <c:f>'Chart Data'!$C$2:$C$4</c:f>
              <c:strCache>
                <c:ptCount val="3"/>
                <c:pt idx="0">
                  <c:v>业务A</c:v>
                </c:pt>
                <c:pt idx="1">
                  <c:v>业务B</c:v>
                </c:pt>
                <c:pt idx="2">
                  <c:v>业务C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23B4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334D5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通过任务数 / 12</c:v>
          </c:tx>
          <c:spPr>
            <a:solidFill xmlns:a="http://schemas.openxmlformats.org/drawingml/2006/main">
              <a:srgbClr val="237D7B"/>
            </a:solidFill>
          </c:spPr>
          <c:cat>
            <c:strRef>
              <c:f>'Chart Data'!$A$2:$A$4</c:f>
              <c:strCache>
                <c:ptCount val="3"/>
                <c:pt idx="0">
                  <c:v>直接回答</c:v>
                </c:pt>
                <c:pt idx="1">
                  <c:v>自由Agent</c:v>
                </c:pt>
                <c:pt idx="2">
                  <c:v>固定工具流程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23B4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61C7C-9C4F-4BD1-A174-C20E2072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有色智研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C9E84-C49D-4BD5-95DD-22A7CB98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有色金属投研智能体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C193E-F450-4BE9-8621-DD13BB10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35BBA-2BDB-4C17-8012-5E8A468D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9b3d29c184d2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8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2C87B-46BE-4EB0-ABCD-3320D5F1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项目定位与阅读路线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6B570-4647-4E01-AAD7-E1DC1F48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先说明研究任务，再展示计算方法，最后说明验证与落地边界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9BCAB-9E64-4956-AA19-B6D4ACD9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D4646-F0C5-4EAE-9B1E-EA434312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82DF2-8F39-45E0-B099-D24BD180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服务对象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1545F-1348-4B69-A45D-BE52D2F7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中小投研团队、金融学习者；用于公司初筛、财报整理和情景讨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E6FD3-5D9F-46E0-88B7-24F16629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当前能力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EDCAF-27AE-40EE-906D-A17E813B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140家公司研究池、15个注册工具、7类经营情景；不等于所有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公司的数据都完整。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3E393-00C9-4241-9F40-F6204BD2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演示顺序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5E841-2FF0-405F-8311-2458EBB6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产品流程 → 五维标准 → 利润与情景 → 技术与证据 → 验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证和落地。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2B653-C927-431E-96C2-BD979DB6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43202-23B9-4EC4-9865-758FFAB5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研究辅助原型。数值可查算，结论需复核；不提供自动交易或收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益保证。</a:t>
            </a:r>
          </a:p>
        </p:txBody>
      </p:sp>
    </p:spTree>
    <p:extLst>
      <p:ext uri="{BB962C8B-B14F-4D97-AF65-F5344CB8AC3E}">
        <p14:creationId xmlns:p14="http://schemas.microsoft.com/office/powerpoint/2010/main" val="14079738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D2E56-EB76-4F04-99F8-A84EE3A8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有色行业研究中的具体难点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34900-9808-46DC-8C64-C8C5BBA4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同一种金属涨价，不同经营环节的影响可能不同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0C3DC-8812-4274-8DAC-726AF774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E37A4-87F4-466D-969A-EC0B5AC2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852E0-A296-4DAD-8291-055160B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经营差异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2C5B3-CEB3-4781-85A2-C2DC28C8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矿山主要看可售金属与采选成本；冶炼看加工费、回收率；加工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企业还要看成材率。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343F4-DD25-4CC0-9E40-AD855B93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数据分散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97701-DC42-474D-91AD-324F4586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利润表、分部披露、行情及宏观数据的日期和单位不同，直接拼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接容易误判。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D9A48-F225-4F25-884F-61DC963D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结论难核对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8275D-F46D-4503-8F1F-5100BA53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只有自然语言分析，难判断金额、评分和情景结果究竟依据哪些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输入。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C01B6-D4EE-4593-9270-667EB279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使用门槛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09BE3-8F57-424A-A00D-021E14B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新用户面对大量指标和图表，不清楚先看什么、下一步该核查什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么。</a:t>
            </a:r>
          </a:p>
        </p:txBody>
      </p:sp>
    </p:spTree>
    <p:extLst>
      <p:ext uri="{BB962C8B-B14F-4D97-AF65-F5344CB8AC3E}">
        <p14:creationId xmlns:p14="http://schemas.microsoft.com/office/powerpoint/2010/main" val="635719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496D2-DC86-489D-955A-03AE3696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一次公司研究的操作流程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E912D-C33E-462B-91F0-4F433C41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以“业务贡献是否支持当前判断”为主线，而不是按功能逐个点击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0A403-1EA9-463F-9C17-1FEBA296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56BF5-371E-4FF0-A593-B6CB4E23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47434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用户操作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获得的结果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选公司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输入名称或代码；查看数据日期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公司身份与研究口径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读业务与利润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主营构成、利润桥、分部毛利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收入来源与盈利差异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查评分与同行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五维评分、阈值、子板块排名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相对位置及薄弱维度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改情景、追问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调整价格成本；询问具体问题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假设结果及待核对事项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85276-E16E-4421-84E2-2B633421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完整研报生成需要模型；本地入门导览和确定性情景计算不需要等待模型写正文。</a:t>
            </a:r>
          </a:p>
        </p:txBody>
      </p:sp>
    </p:spTree>
    <p:extLst>
      <p:ext uri="{BB962C8B-B14F-4D97-AF65-F5344CB8AC3E}">
        <p14:creationId xmlns:p14="http://schemas.microsoft.com/office/powerpoint/2010/main" val="261784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E64F4-C064-41E7-8A3D-756C7B96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真实界面：从欢迎页进入研究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23351-C64F-4C23-8C27-D784D1D1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欢迎页实拍，保留平台导航、功能介绍与两个操作入口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CF171-151C-4124-8080-2ADC65D9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B5FB3-36B8-4DBD-9CDD-74F6C0AB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e3b9ebf0f459b"/>
          <a:stretch xmlns:a="http://schemas.openxmlformats.org/drawingml/2006/main"/>
        </p:blipFill>
        <p:spPr>
          <a:xfrm xmlns:a="http://schemas.openxmlformats.org/drawingml/2006/main">
            <a:off x="1330187" y="1743075"/>
            <a:ext cx="9531626" cy="3914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42A5D-E43E-40F4-803A-18FF351C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新用户选择“带我试一次”；熟悉流程后可直接进入平台。截图为首页局部。</a:t>
            </a:r>
          </a:p>
        </p:txBody>
      </p:sp>
    </p:spTree>
    <p:extLst>
      <p:ext uri="{BB962C8B-B14F-4D97-AF65-F5344CB8AC3E}">
        <p14:creationId xmlns:p14="http://schemas.microsoft.com/office/powerpoint/2010/main" val="1268485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DD1DB-46D1-4550-AA73-59C9A3BC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真实界面：十二步新手引导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B1924-B38D-491C-89FC-94E949E1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教程直接带用户操作网页，支持返回、退出与重新开始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F430C-A1E7-4773-8B9D-BA6970E9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34ECD-A71A-4510-9D31-F0C92D5B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0d06ebfb64926"/>
          <a:stretch xmlns:a="http://schemas.openxmlformats.org/drawingml/2006/main"/>
        </p:blipFill>
        <p:spPr>
          <a:xfrm xmlns:a="http://schemas.openxmlformats.org/drawingml/2006/main">
            <a:off x="628650" y="1960972"/>
            <a:ext cx="10934700" cy="179305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A0306-17F2-4778-A7C5-4D3CF07E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先加载本地资料，再逐步阅读图表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AD631-930A-49EA-934C-FE1BB56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后续步骤覆盖业务、利润、评分依据、情景矩阵，以及技术面、资金面和风险的阅读方法。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7B335-F324-4D38-A413-DFA85C24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图中为第一步的真实操作栏；加载入门数据不会自动生成AI研报正文。</a:t>
            </a:r>
          </a:p>
        </p:txBody>
      </p:sp>
    </p:spTree>
    <p:extLst>
      <p:ext uri="{BB962C8B-B14F-4D97-AF65-F5344CB8AC3E}">
        <p14:creationId xmlns:p14="http://schemas.microsoft.com/office/powerpoint/2010/main" val="938266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D7565-16A0-4BE6-8B6D-314650F0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研报五个部分分别回答什么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72E96-DD2F-4169-A75F-1D98B4B5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文字、图表和评分各有职责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C431C-8A15-4725-853F-A34E4E85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DB904-7BB9-4F0F-A7B8-45B49578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1924050"/>
          <a:ext xmlns:a="http://schemas.openxmlformats.org/drawingml/2006/main" cx="109347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476750"/>
                <a:gridCol w="483870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研究问题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主要呈现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基本面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靠什么赚钱，经营是否改善？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主营构成、宏观周期、经营分析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估值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盈利来源是什么，估值观察有何依据？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PE、利润桥、分部毛利、经营情景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价格趋势与近期动能如何？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均线、MACD、RSI及近期涨跌解读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资金面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近期资金参与方向如何？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五日净流入/成交额比例解读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哪些指标需要进一步核查？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债率、偿债能力、增长与缺项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82EF4-D5D0-4490-926F-23B7A11A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技术面、资金面目前主要为文字分析；不宣称提供独立K线图或完整资金流向图。</a:t>
            </a:r>
          </a:p>
        </p:txBody>
      </p:sp>
    </p:spTree>
    <p:extLst>
      <p:ext uri="{BB962C8B-B14F-4D97-AF65-F5344CB8AC3E}">
        <p14:creationId xmlns:p14="http://schemas.microsoft.com/office/powerpoint/2010/main" val="11411907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DE43D-3BAF-4918-B6A9-6DAE6F55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五维评分的统一口径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1F33B-D7F7-4B6D-89A5-E9ACA8E8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评分版本v2.0；阈值为研究规则，不是收益预测模型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0C435-D318-453A-A99C-771CB346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D52CB-ED69-470F-BFD6-96D66BC9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1924050"/>
          <a:ext xmlns:a="http://schemas.openxmlformats.org/drawingml/2006/main" cx="109347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72000"/>
                <a:gridCol w="455295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主要指标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计算方式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基本面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ROE、归母净利润同比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 ROE分档＋30%增长分档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估值观察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PE(TTM)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正PE绝对分档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MA、MACD、RSI、20日收益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50分起点，加减分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资金面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五日净流入/同五日成交额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50＋4×比例，限制在10—90分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债率、增长、流动比率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40%债率＋30%增长＋30%流动比率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A2795-2C09-4DC2-8F17-1D12047C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综合分＝五维等权平均；任一维缺失或不适用，则不计算综合分，不对剩余维度重新加权。</a:t>
            </a:r>
          </a:p>
        </p:txBody>
      </p:sp>
    </p:spTree>
    <p:extLst>
      <p:ext uri="{BB962C8B-B14F-4D97-AF65-F5344CB8AC3E}">
        <p14:creationId xmlns:p14="http://schemas.microsoft.com/office/powerpoint/2010/main" val="11703386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A87E3-783C-4731-BCF8-33320602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基本面：盈利能力与增长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00247-CE63-47F8-B92A-CE5A257A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基本面分＝ROE分档×70%＋增长分档×30%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934EF-A5D4-49A9-AE45-A93886D6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24521-40AF-40C2-BB63-BA6BA9AC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1952625"/>
          <a:ext xmlns:a="http://schemas.openxmlformats.org/drawingml/2006/main" cx="109347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67350"/>
                <a:gridCol w="5467350"/>
              </a:tblGrid>
              <a:tr h="563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ROE条件 → 得分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归母净利润同比条件 → 得分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小于0% → 0；等于0% → 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小于−20% → 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大于0%、小于5% → 40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−20%至小于0% → 30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5%至小于10% → 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等于0% → 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10%至小于15% → 80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大于0%、小于20% → 70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15%及以上 → 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20%及以上 → 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2CF8A-63A8-4BDB-8ABC-847CD886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演示：ROE 12%、同比25% → 80×70%＋90×30%＝83分。基期亏损或为零时，同比增长暂缺。</a:t>
            </a:r>
          </a:p>
        </p:txBody>
      </p:sp>
    </p:spTree>
    <p:extLst>
      <p:ext uri="{BB962C8B-B14F-4D97-AF65-F5344CB8AC3E}">
        <p14:creationId xmlns:p14="http://schemas.microsoft.com/office/powerpoint/2010/main" val="174233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28AB4-5378-4875-A098-A5941573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估值观察：正PE分档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05E19-AB67-4FF6-AD07-6A5C3CC4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较高分只表示处于本规则较低的PE区间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F5C8D-C4C8-4D08-B8CC-A2D327DA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B803B-8B3D-4E8A-B545-843A9230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1952625"/>
          <a:ext xmlns:a="http://schemas.openxmlformats.org/drawingml/2006/main" cx="109347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428750"/>
                <a:gridCol w="6172200"/>
              </a:tblGrid>
              <a:tr h="579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PE(TTM)，倍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大于0、小于10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使用盈利为正时的PE观察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10至小于15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与行情日期保持一致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15至小于20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不等于合理估值倍数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20至小于30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不等于历史估值分位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30及以上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仍需结合业务、盈利周期核对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1D768-6822-4403-822B-F74680C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PE≤0时标“不适用”。周期高点的盈利可能压低PE，不能把低PE直接写成“低估”或买入建议。</a:t>
            </a:r>
          </a:p>
        </p:txBody>
      </p:sp>
    </p:spTree>
    <p:extLst>
      <p:ext uri="{BB962C8B-B14F-4D97-AF65-F5344CB8AC3E}">
        <p14:creationId xmlns:p14="http://schemas.microsoft.com/office/powerpoint/2010/main" val="21077182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53F73-9083-453D-8603-101F5B5F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技术面：四组信号分别计分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A2E16-00B1-43C6-9574-50046A89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七项输入全部有效后才能评分；每组只计一次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6C153-33E3-4C98-8A27-356A5A13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C4062-7EAD-416F-BDDB-AEBB87AF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1952625"/>
          <a:ext xmlns:a="http://schemas.openxmlformats.org/drawingml/2006/main" cx="109347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172200"/>
                <a:gridCol w="276225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均线排列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MA5&gt;MA20&gt;MA60 / 反向排列 / 其余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+15 / −15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MACD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DIF&gt;DEA / DIF&lt;DEA / 相等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 / −10 / 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40&lt;RSI&lt;60；RSI&lt;30或&gt;70；其余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 / −5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20日收益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 / 负 / 零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 / −10 / 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0E0BB-4E78-4AE8-B79D-816473E9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50分起点，理论范围10—90。示例：均线多头＋DIF&gt;DEA＋RSI 55＋正收益＝90分；不代表预测胜率。</a:t>
            </a:r>
          </a:p>
        </p:txBody>
      </p:sp>
    </p:spTree>
    <p:extLst>
      <p:ext uri="{BB962C8B-B14F-4D97-AF65-F5344CB8AC3E}">
        <p14:creationId xmlns:p14="http://schemas.microsoft.com/office/powerpoint/2010/main" val="8152969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464FE-0401-421B-8E60-CDF9A54C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资金面：用成交规模统一资金观察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81B5B-577E-4606-84B8-3EF162B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先合计五日金额，再计算比例；不取每日比例的简单平均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F36FD-B318-40D1-B7C7-908675AC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47C9E-8BDA-42D1-8A6D-710F9F27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BF3B4-8944-4337-9215-B59B1BC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资金比例 = 五日净流入合计 ÷ 同五日成交额合计 ×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F17CF-893C-415F-97F9-7C8A2F01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资金分 = 50 + 4 × 资金比例（百分数）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28650" y="3886200"/>
          <a:ext xmlns:a="http://schemas.openxmlformats.org/drawingml/2006/main" cx="109347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953250"/>
                <a:gridCol w="3981450"/>
              </a:tblGrid>
              <a:tr h="381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虚构示例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五日净流入0.1亿元、同五日成交额10亿元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比例1%，得54分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比例−2%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得42分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日期不齐、单位不明或分母非正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暂缺，不以0分替代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40D36-0538-4259-91D3-B71F8954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分数限制在10—90。主力口径依赖供应商，不能据此识别具体机构或把百分比写成亿元。</a:t>
            </a:r>
          </a:p>
        </p:txBody>
      </p:sp>
    </p:spTree>
    <p:extLst>
      <p:ext uri="{BB962C8B-B14F-4D97-AF65-F5344CB8AC3E}">
        <p14:creationId xmlns:p14="http://schemas.microsoft.com/office/powerpoint/2010/main" val="12592504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A84A2-DDA5-4E9C-8B3B-50676AAB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安全度：债务负担与偿债能力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2E41C-E815-4164-8DE4-6015C6BC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安全度分＝债率分档×40%＋增长分档×30%＋流动比率分档×30%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B1BE5-49AF-43A0-8FA8-7F865BD1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B17E3-9AB3-4363-97BA-335B3C7C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1952625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67350"/>
                <a:gridCol w="546735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资产负债率 → 分数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流动比率 → 分数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低于40% → 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小于1 → 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40%至60%（含边界）→ 70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等于1 → 50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大于60%、不超过70% → 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大于1、小于2 → 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大于70% → 20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2及以上 → 90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97343-37E2-4F49-8B69-7A71563B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增长沿用基本面分档。示例：债率45%、增长25%、流动比率1.5 → 70×40%＋90×30%＋70×30%＝76分。</a:t>
            </a:r>
          </a:p>
        </p:txBody>
      </p:sp>
    </p:spTree>
    <p:extLst>
      <p:ext uri="{BB962C8B-B14F-4D97-AF65-F5344CB8AC3E}">
        <p14:creationId xmlns:p14="http://schemas.microsoft.com/office/powerpoint/2010/main" val="8370612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C2FE7-ECE8-4E79-990B-BAD49284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评分结果与同业排名怎么读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B0612-EB2F-4799-9E68-CCB0B1C8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虚构公司示例：展示计算关系，不引用真实证券或Wind数据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344F6-027F-4E15-B3A7-1F41B03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6AB66-3477-45D9-9AF7-AB2DBB2D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47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a6d972bc29408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1C678-3409-4312-82B9-DA327149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综合分＝(83＋75＋90＋54＋76)÷5＝75.6。对比须同版本、同批次、明确子板块；同分并列，缺项不补分。</a:t>
            </a:r>
          </a:p>
        </p:txBody>
      </p:sp>
    </p:spTree>
    <p:extLst>
      <p:ext uri="{BB962C8B-B14F-4D97-AF65-F5344CB8AC3E}">
        <p14:creationId xmlns:p14="http://schemas.microsoft.com/office/powerpoint/2010/main" val="10859782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B2048-4602-4FD4-9661-ECBCEFF0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真实界面：公司评分与板块均值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B33D8-AB2A-46F8-B58D-458FADF4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南山铝业；财务报告期2025-12-31，市场日期2026-09-04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F47B3-C0BB-4FEC-9E3B-D85FCE41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BF098-C9B5-4FB8-A947-0DAE06CE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9d78e56cf4168"/>
          <a:stretch xmlns:a="http://schemas.openxmlformats.org/drawingml/2006/main"/>
        </p:blipFill>
        <p:spPr>
          <a:xfrm xmlns:a="http://schemas.openxmlformats.org/drawingml/2006/main">
            <a:off x="1252442" y="1743075"/>
            <a:ext cx="9687115" cy="3914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3D64A-C49E-4A72-909D-9C8BAEB6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蓝色为公司、橙色为铝板块均值。该快照综合分62.6；可继续展开指标与计分依据。</a:t>
            </a:r>
          </a:p>
        </p:txBody>
      </p:sp>
    </p:spTree>
    <p:extLst>
      <p:ext uri="{BB962C8B-B14F-4D97-AF65-F5344CB8AC3E}">
        <p14:creationId xmlns:p14="http://schemas.microsoft.com/office/powerpoint/2010/main" val="20453708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D36C5-86B5-4EEA-8467-29464CC8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基本面图表：业务结构与宏观背景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40EB0-68B6-4469-9224-2D0E32CC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先看业务，再看行业环境；收入占比不等于利润占比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5E679-EE15-4D72-B3FD-629149DD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35769-D877-4C7E-94D6-0450E2E3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B7438-9599-4063-A38F-0D3EA86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主营构成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00426-1521-4BED-B8DE-43DC4586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环形图使用同报告期的分部收入；披露无法完整核对时不强凑1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00%。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7C59D-AFC6-4845-9028-C0E7117D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分部口径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F7ED7-7A42-48C1-AA10-60C40ACF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产品与行业拆分择一，避免把两套分类重复加总；集团抵销需单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独识别。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17D94-1A87-438E-A54C-962F6A85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宏观周期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F1F6B-EE87-4972-B87D-63FC00B6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工业金属、贵金属、战略金属的滚动z-score折线；0表示接近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滚动均值。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CB415-9E02-4855-BCE0-5C6B7777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阅读结论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DAE06-6CEB-4A91-BAA5-4E47102E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公司对某类业务依赖较高，是继续核查成本与毛利的线索，不是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股价预测。</a:t>
            </a:r>
          </a:p>
        </p:txBody>
      </p:sp>
    </p:spTree>
    <p:extLst>
      <p:ext uri="{BB962C8B-B14F-4D97-AF65-F5344CB8AC3E}">
        <p14:creationId xmlns:p14="http://schemas.microsoft.com/office/powerpoint/2010/main" val="8669138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22508-3345-4585-BB4B-F25FCA99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真实界面：主营收入构成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C0E67-DD48-44F2-BCA0-C788F7A6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南山铝业，2025年报；一键研报内实际图表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ED244-E8F1-47BA-9ED2-F7B2D7E0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F7F4F-2513-4B95-9595-DFB2D195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f4a35e5144024"/>
          <a:stretch xmlns:a="http://schemas.openxmlformats.org/drawingml/2006/main"/>
        </p:blipFill>
        <p:spPr>
          <a:xfrm xmlns:a="http://schemas.openxmlformats.org/drawingml/2006/main">
            <a:off x="1252442" y="1743075"/>
            <a:ext cx="9687115" cy="3914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49247-B2DE-4712-8CB6-60FE877F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冷轧卷/板约占51.9%，氧化铝粉约占25.6%。收入占比用于识别业务重心，需结合毛利继续看。</a:t>
            </a:r>
          </a:p>
        </p:txBody>
      </p:sp>
    </p:spTree>
    <p:extLst>
      <p:ext uri="{BB962C8B-B14F-4D97-AF65-F5344CB8AC3E}">
        <p14:creationId xmlns:p14="http://schemas.microsoft.com/office/powerpoint/2010/main" val="16425180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A2A15-A2A1-4606-9B1C-0C23E52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财报利润桥：收入如何形成归母净利润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B9252-F342-4D62-9851-00B1A3D5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以下为虚构算例，金额单位：亿元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D9429-46FC-4EBA-AB0C-7BE94810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FBB78-0A1D-4EC6-B534-23B0BC29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1943100"/>
          <a:ext xmlns:a="http://schemas.openxmlformats.org/drawingml/2006/main" cx="109347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2476500"/>
                <a:gridCol w="3409950"/>
              </a:tblGrid>
              <a:tr h="587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计算环节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金额变化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营业收入－营业成本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100−75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毛利25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毛利－期间费用＋其他净收益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25−10＋2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营业利润17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营业利润＋营业外净收支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17＋1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利润总额18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利润总额－所得税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18−4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净利润14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净利润－少数股东损益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14−2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归母净利润12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29964-9A3D-414E-921D-698AEFC8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真实页面按已披露字段生成瀑布图，区分披露、推导及未细分差额；合计柱不能再次加总。</a:t>
            </a:r>
          </a:p>
        </p:txBody>
      </p:sp>
    </p:spTree>
    <p:extLst>
      <p:ext uri="{BB962C8B-B14F-4D97-AF65-F5344CB8AC3E}">
        <p14:creationId xmlns:p14="http://schemas.microsoft.com/office/powerpoint/2010/main" val="677457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981D9-D5CD-47D0-A612-6935BF3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真实界面：财报利润桥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B8439-13B2-41B7-BB28-6B731923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南山铝业，2025年报；页面实际输出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0213D-18D1-4F9B-8686-7D694D7F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B4F76-1FBA-4E34-BDF1-AD7C70D5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a6c5524fa46fd"/>
          <a:stretch xmlns:a="http://schemas.openxmlformats.org/drawingml/2006/main"/>
        </p:blipFill>
        <p:spPr>
          <a:xfrm xmlns:a="http://schemas.openxmlformats.org/drawingml/2006/main">
            <a:off x="829570" y="1743075"/>
            <a:ext cx="5694159" cy="45053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D8062-00A9-4D6D-B0E2-D5110417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346.20亿元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7AB6F-5754-41EB-B1DF-8342B8C5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2412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营业收入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E3187-F787-40B6-A951-8D2EAAC9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9925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87.23亿元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058C3-E8E3-4396-BD91-3B381B94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收入扣除成本后的毛利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59A0F-0455-4B33-A7BB-63F00F7F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67225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47.36亿元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A5A01-3EF3-44B1-8376-10C13155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387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扣除后续项目后的归母净利润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019AF-0082-41CC-A1EB-D47F46C8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76925"/>
            <a:ext cx="433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右侧数字按界面金额保留两位小数。</a:t>
            </a:r>
          </a:p>
        </p:txBody>
      </p:sp>
    </p:spTree>
    <p:extLst>
      <p:ext uri="{BB962C8B-B14F-4D97-AF65-F5344CB8AC3E}">
        <p14:creationId xmlns:p14="http://schemas.microsoft.com/office/powerpoint/2010/main" val="21345733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05E58-B13A-4121-B1FA-473558F2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分部毛利：收入规模与盈利贡献并不相同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E593B-BB63-45A6-8EAC-EA9426CA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虚构算例，金额单位：亿元；图示只用于讲解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83C81-D9F1-4026-BB8D-F2F58FE9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1B09A-AD4C-42BC-A74C-E4597A50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47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83a8c18254498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37C25-4158-4E48-8BDF-836C110B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A贡献60%收入，却仅贡献48%毛利；B收入较小但毛利率更高。分部毛利未扣完集团费用，不等于分部净利润。</a:t>
            </a:r>
          </a:p>
        </p:txBody>
      </p:sp>
    </p:spTree>
    <p:extLst>
      <p:ext uri="{BB962C8B-B14F-4D97-AF65-F5344CB8AC3E}">
        <p14:creationId xmlns:p14="http://schemas.microsoft.com/office/powerpoint/2010/main" val="11200574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9F7C4-0483-46CF-98D7-A24961BE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真实界面：分部毛利对比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324FE-4365-4A73-BBF0-801CE9F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南山铝业，2025年报；已披露业务口径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B2D8B-9739-4CBB-80E8-8146F4F4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8CC4A-263E-4CEE-91F5-9092FB8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ebca5a52d47b2"/>
          <a:stretch xmlns:a="http://schemas.openxmlformats.org/drawingml/2006/main"/>
        </p:blipFill>
        <p:spPr>
          <a:xfrm xmlns:a="http://schemas.openxmlformats.org/drawingml/2006/main">
            <a:off x="1778916" y="1743075"/>
            <a:ext cx="8634168" cy="3914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1236A-778F-41A7-8B4B-37F48B73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冷轧卷/板毛利37.84亿元，氧化铝粉34.45亿元。对照收入构成，进一步分析各业务盈利贡献。</a:t>
            </a:r>
          </a:p>
        </p:txBody>
      </p:sp>
    </p:spTree>
    <p:extLst>
      <p:ext uri="{BB962C8B-B14F-4D97-AF65-F5344CB8AC3E}">
        <p14:creationId xmlns:p14="http://schemas.microsoft.com/office/powerpoint/2010/main" val="249680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E429A-72DA-4E90-AC2F-7A45CE14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七类经营模型分别研究什么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C09D1-B566-44B7-A555-BC44AFFF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同一价格变化在不同环节的计算路径不同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8FBFB-18F0-4263-86A3-783D73A0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84B38-7BCC-40E2-AE18-22E0C091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1866900"/>
          <a:ext xmlns:a="http://schemas.openxmlformats.org/drawingml/2006/main" cx="109347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000750"/>
                <a:gridCol w="2457450"/>
              </a:tblGrid>
              <a:tr h="4786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关键输入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输出单位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矿山采选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售价、采选成本、运输、资源税、副产品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元/吨可售金属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外购精矿冶炼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TC/RC、汇率、品位、回收率、转换成本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元/吨回收金属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电解铝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铝价、氧化铝单耗、电耗电价、其他成本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元/吨铝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加工及功能材料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加工费、成材率、原料价、转换成本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元/吨成品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化合物与分离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元素含量、品位、回收率、原料成本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元/吨产品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再生回收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废料品位、回收率、采购与处置成本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元/干吨废料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贸易与供应链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购销、物流、融资及套保净成本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元/笔同口径交易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BE5CD-169C-478B-884A-638A0BEC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均为所列成本边界下的假设利润或贡献；不能不经销量、税费等核验就写成公司归母净利润。</a:t>
            </a:r>
          </a:p>
        </p:txBody>
      </p:sp>
    </p:spTree>
    <p:extLst>
      <p:ext uri="{BB962C8B-B14F-4D97-AF65-F5344CB8AC3E}">
        <p14:creationId xmlns:p14="http://schemas.microsoft.com/office/powerpoint/2010/main" val="19094505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FA462-0C67-49D9-80BD-B91B15B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经营情景：改一个参数，追查利润变化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61E40-AC47-4ED9-8F8F-F031DCB3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电解铝虚构参数演示；不是企业实际成本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FEAAB-085D-4CBA-A657-3962689E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0F567-5652-45E9-A47B-D05F7286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1F431-44D2-47DE-AD8F-10A94C6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吨铝贡献 = 铝价 − 氧化铝价×单耗 − 电耗×电价 − 其他成本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952750"/>
          <a:ext xmlns:a="http://schemas.openxmlformats.org/drawingml/2006/main" cx="109347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6667500"/>
                <a:gridCol w="207645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元/吨铝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20,000−3,000×1.93−13,500×0.45−2,500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5,635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铝价提高10%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其他输入保持不变，增加2,000元/吨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7,635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电价提高0.10元/千瓦时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其他输入保持不变，增加1,350元/吨成本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0434C-0ED3-47B9-8595-0447BC95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双因素热力图围绕两个输入各变化±30%；十字为基准，跨越盈亏时显示零利润线。其余参数保持不变。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4502711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82D73-6AA3-49CC-8A8D-6CF843D5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真实界面：价格与成本的双因素情景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75CB3-E511-43B8-B7E1-4E3332B7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真实操作截图；电解铝参数为演示假设，不是南山铝业实际成本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6E993-DD8D-42D9-9CE1-96BEE85B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A59C4-A5C9-46DC-AB0B-17443923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5c1b9a6564211"/>
          <a:stretch xmlns:a="http://schemas.openxmlformats.org/drawingml/2006/main"/>
        </p:blipFill>
        <p:spPr>
          <a:xfrm xmlns:a="http://schemas.openxmlformats.org/drawingml/2006/main">
            <a:off x="963043" y="1828800"/>
            <a:ext cx="6570214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211B5-023F-48C2-96A5-DEF93BAC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横轴：铝售价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CC30A-AA32-48CF-A8C4-E00343EC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纵轴：氧化铝价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62377-1173-43FD-82CA-ADFF4214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76625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十字：基准假设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BCE8B-2E72-4975-A29C-D7286D7E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481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零线：模型盈亏边界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6C211-2403-4D38-965F-75B8EEBC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43500"/>
            <a:ext cx="3409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其余输入保持不变。</a:t>
            </a:r>
          </a:p>
          <a:p xmlns:a="http://schemas.openxmlformats.org/drawingml/2006/main">
            <a:pPr>
              <a:defRPr sz="1875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基准贡献5,635元/吨铝。</a:t>
            </a:r>
          </a:p>
        </p:txBody>
      </p:sp>
    </p:spTree>
    <p:extLst>
      <p:ext uri="{BB962C8B-B14F-4D97-AF65-F5344CB8AC3E}">
        <p14:creationId xmlns:p14="http://schemas.microsoft.com/office/powerpoint/2010/main" val="13832395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65365-7E0C-49FD-BD88-C3D429E9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情景矩阵：比较多家公司的收入影响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889B8-2BC5-4C5C-A865-EAF2209C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与单股工具共用计算核心；只使用可识别的同期间分部收入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01C7D-2CD5-4ADA-920A-F36DDD88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2E26B-0606-460F-8486-04352EEF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6F2A9-53DD-4917-8EC4-C89ACFEE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收入变化近似 = 已识别相关业务收入 × 输入价格变动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3105150"/>
          <a:ext xmlns:a="http://schemas.openxmlformats.org/drawingml/2006/main" cx="109347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3619500"/>
                <a:gridCol w="283845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虚构示例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公司A：相关业务收入20亿元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金属价格+10% → 收入约+2亿元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固定销量、实现售价同比例变化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公司B：相关业务收入5亿元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金属价格+10% → 收入约+0.5亿元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不是集团净利润变化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业务不明确或收入缺失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无法计算，标明缺项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未识别不等于零暴露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B73FD-69A4-4F12-906B-D3B9CE40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不引入未经证实的传导系数；成本、套保、税费及少数股东因素未纳入时，不预测归母净利润。</a:t>
            </a:r>
          </a:p>
        </p:txBody>
      </p:sp>
    </p:spTree>
    <p:extLst>
      <p:ext uri="{BB962C8B-B14F-4D97-AF65-F5344CB8AC3E}">
        <p14:creationId xmlns:p14="http://schemas.microsoft.com/office/powerpoint/2010/main" val="10417389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7340C-9B9E-4E54-8081-A81931F5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真实界面：黄金价格下降20%的收入情景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D72D3-822A-4F3F-A348-299C8585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2026-06-30分部口径；通过页面“生成影响矩阵”得到的结果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8B647-080B-4F0C-AD9A-701C6888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1B112-1A22-4831-9778-1C5DA86B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c754b12754365"/>
          <a:stretch xmlns:a="http://schemas.openxmlformats.org/drawingml/2006/main"/>
        </p:blipFill>
        <p:spPr>
          <a:xfrm xmlns:a="http://schemas.openxmlformats.org/drawingml/2006/main">
            <a:off x="1252442" y="1743075"/>
            <a:ext cx="9687115" cy="3914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A2DB3-E036-4487-8188-143A7DF8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图示比较固定销量下的收入变化近似。差异取决于已识别业务收入规模，不代表净利润或股价跌幅。</a:t>
            </a:r>
          </a:p>
        </p:txBody>
      </p:sp>
    </p:spTree>
    <p:extLst>
      <p:ext uri="{BB962C8B-B14F-4D97-AF65-F5344CB8AC3E}">
        <p14:creationId xmlns:p14="http://schemas.microsoft.com/office/powerpoint/2010/main" val="1104657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0F1AA-88EA-43BF-BF9B-B0BF8BCF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智能体与固定研报流程的分工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9BA3B-5E59-4EA3-858F-962FC699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研究问答允许工具选择；一键研报强调输入一致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ED187-B927-47ED-B073-840D360C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0F8B0-7A73-443D-A94A-2908168F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71975"/>
                <a:gridCol w="4371975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一键研报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自由问答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一次捕获公司、评分批次与报告期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用户问题与对话上下文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程序准备数据与图表，大模型组织正文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模型选择注册工具并继续追问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可核对内容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共同输入、部分金额证据、研报归档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工具结果、执行记录与回答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主要限制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本地快照并非实时行情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工具选择与数字表述仍可能出错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8D725-5E05-4178-8B31-548E9584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计算由工具负责并不保证模型解读全部正确；引用金额与单位仍需核对。</a:t>
            </a:r>
          </a:p>
        </p:txBody>
      </p:sp>
    </p:spTree>
    <p:extLst>
      <p:ext uri="{BB962C8B-B14F-4D97-AF65-F5344CB8AC3E}">
        <p14:creationId xmlns:p14="http://schemas.microsoft.com/office/powerpoint/2010/main" val="3161521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31782-B107-4329-A0C1-38B5FB47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数据与证据的追溯路径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5BF2E-3E8E-4B4B-92DF-5A8FF492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同一次研究保留输入批次，避免图表和正文使用不同数据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7ADC3-37F0-4218-A360-847EAD78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7D894-64AE-4B20-A0DD-AF53F3B3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6799B-E4DF-4EB6-BAB9-367E5331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数据进入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07F3D-2991-45A2-A74C-10D5150A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识别公司、报告期、行情日期和单位；来源不可用时明确缺项。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167E4-A4FA-418A-B8E7-B44258D2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计算与核验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828FE-8553-47E5-A441-8122071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评分纯函数不填缺项；利润桥核对会计关系，实际值与情景参数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分开。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E1E20-75E2-455A-88A9-6F93ECA2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研究生成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D2474-F717-4F21-BE21-EFCDC6DA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正文、雷达图和排名共用评分批次；利润与分部按指定报告期处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50A6B-C4F7-4890-9C28-6E0F6B1C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事后追查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70A02-F6EE-4449-8493-6D768343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保存研究输入与正文，部分关键金额带证据编号、来源或推导输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入；不宣称所有语句均可溯源。</a:t>
            </a:r>
          </a:p>
        </p:txBody>
      </p:sp>
    </p:spTree>
    <p:extLst>
      <p:ext uri="{BB962C8B-B14F-4D97-AF65-F5344CB8AC3E}">
        <p14:creationId xmlns:p14="http://schemas.microsoft.com/office/powerpoint/2010/main" val="4203945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CA1B5-E0C6-492F-A63F-DC238709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当前覆盖与数据边界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5409E-8D96-414A-9AAC-A4A5421D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覆盖数字描述已有版本，不表示全量数据齐备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D57AB-0EA7-4CEF-8EF5-A95293DF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9625C-113A-46EF-839A-9D46CE1B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86250"/>
                <a:gridCol w="41719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当前情况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公司研究池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140家公司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单项指标与分部覆盖不同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五维v2快照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61家五维完整；其余保留缺项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财务2025年报；完整样本行情2026-09-04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收入冲击研究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81家至少一种金属可计算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2026-09-06覆盖扫描，非利润模型覆盖率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Wind本地补充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推导财务数据，校验候选行情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不进入公开材料、模型请求或生产评分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A4275-B73F-4A03-A798-ED62FC05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部分分部缺公告日与原公告链接；前复权历史不是完整的历史点时性重建。</a:t>
            </a:r>
          </a:p>
        </p:txBody>
      </p:sp>
    </p:spTree>
    <p:extLst>
      <p:ext uri="{BB962C8B-B14F-4D97-AF65-F5344CB8AC3E}">
        <p14:creationId xmlns:p14="http://schemas.microsoft.com/office/powerpoint/2010/main" val="3671306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A3C45-BAB9-46EB-85BD-E3990ABC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验证结果与尚未解决的问题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27AB5-8049-4312-8F3E-6616A338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开发验证：12道已知任务、4个冻结工具；不是盲测或实盘评测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1D71E-D48F-46AE-AB8E-31BFBF9B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47D57-25C0-405B-8499-E8C148B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47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ad4aaa0200428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70367-B423-4C25-A866-8E249DA4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结果支持在明确任务上采用受约束流程，不能宣称自由Agent优于固定流程。工具选择和自然语言数字准确性仍需改进。</a:t>
            </a:r>
          </a:p>
        </p:txBody>
      </p:sp>
    </p:spTree>
    <p:extLst>
      <p:ext uri="{BB962C8B-B14F-4D97-AF65-F5344CB8AC3E}">
        <p14:creationId xmlns:p14="http://schemas.microsoft.com/office/powerpoint/2010/main" val="8194558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FC9E9-5321-476F-9C8A-F7C5C451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产品可用性与演示检查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8D54C-3E18-4015-AFCE-C2DEFF43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已有界面回归和单元验证，不将测试通过等同于投研结论正确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09C4A-B931-49F7-BA10-6E420885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B183D-ED28-494A-B02E-C35B1951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F987F-96D1-4C52-B50B-CCFE81B3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新手上手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E8E59-C67C-46F8-88FE-E27ED1D2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十二步教程、研报阅读指南、术语悬停与手机点击提示；支持跳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过、退出和重看。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B7E18-52A4-459B-B307-B43D9F17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计算验证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9C257-EB6A-4CFD-964B-7BC28E97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既有全量测试曾通过341项；后续Wind导入与技术核验另有专项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测试，不混称最新全量结果。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6FA50-7511-4B16-B9DA-7369BB86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界面回归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29119-FACD-41CB-B7EC-16F0BBE6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已检查多家公司利润图、七类情景和桌面/手机主要流程；不宣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称所有浏览器全兼容。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7CECD-E9C1-467E-AF33-ED3D3E89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改进重点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74E7C-3EB4-440E-82E5-BA20529B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完整数据覆盖、网络源稳定性、问答准确性和真实用户验证；当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前没有实盘收益证明。</a:t>
            </a:r>
          </a:p>
        </p:txBody>
      </p:sp>
    </p:spTree>
    <p:extLst>
      <p:ext uri="{BB962C8B-B14F-4D97-AF65-F5344CB8AC3E}">
        <p14:creationId xmlns:p14="http://schemas.microsoft.com/office/powerpoint/2010/main" val="1214935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69E6D-C8AC-46C3-BA7B-DD78EA4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落地对象与验证计划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21B74-1E8F-4AA4-AE86-A145D524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先验证研究任务的帮助程度，再讨论收费与规模化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6F78B-1773-470C-A529-DE6EAB19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62B95-09E0-4E5A-B2DA-4C8A8553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905250"/>
                <a:gridCol w="4552950"/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优先场景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拟验证内容</a:t>
                      </a:r>
                    </a:p>
                  </a:txBody>
                  <a:tcPr marL="91440" marR="91440" marT="45720" marB="45720">
                    <a:solidFill>
                      <a:srgbClr val="123B40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中小投研团队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公司初筛、财报核对、情景讨论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同任务耗时、漏项及数值错误率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高校师生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行业研究与财报分析训练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读图理解、独立核查完成率</a:t>
                      </a:r>
                    </a:p>
                  </a:txBody>
                  <a:tcPr marL="91440" marR="91440" marT="45720" marB="45720">
                    <a:solidFill>
                      <a:srgbClr val="EDF2E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机构定制（后续）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授权数据接入、受控团队部署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334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部署成本、权限需求与付费意愿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4248A-5CFB-47A3-B2A3-F781D26E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计划邀请3—5位目标用户试用。目前没有已验证客户节时比例、付费客户或成交收入。</a:t>
            </a:r>
          </a:p>
        </p:txBody>
      </p:sp>
    </p:spTree>
    <p:extLst>
      <p:ext uri="{BB962C8B-B14F-4D97-AF65-F5344CB8AC3E}">
        <p14:creationId xmlns:p14="http://schemas.microsoft.com/office/powerpoint/2010/main" val="49001864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A7CF1-8937-4B05-9AFD-127834E9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三项核心创新与实现证据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9AD06-9E70-4A48-84D9-128BE648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创新落在可运行的行业工具与核验机制上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BB4FD-58CD-41C1-A7CD-508E115A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B43C5-9E91-474A-A836-C2CC7D98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809C5-5799-4283-A14E-83C81C9D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行业专属建模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B1321-DED1-4E50-A5BC-498D58E9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七类经营模型、利润桥与板块矩阵，分别处理不同业务的成本和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收入影响。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CD0DE-05F5-476E-A0C8-0C347597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计算与解读分工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4CD26-9BCF-4E18-8E27-0F7E8A4C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确定性评分和财务计算＋大模型研究问答；指标、规则及部分金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额证据可查。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1788F-90DA-4D2C-9840-F583C304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数据边界可见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847D9-430E-4818-A814-4C47C10A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日期、缺项、假设与推导状态进入界面；教程和术语解释帮助用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户判断结果能用到哪里。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40968-BC3A-4E2A-974B-306CFF95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237E2-67B0-42D3-A73F-830DFBB1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在保持数据授权边界的前提下，补证据、稳数据源、测真实研究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任务，不急于扩展交易功能。</a:t>
            </a:r>
          </a:p>
        </p:txBody>
      </p:sp>
    </p:spTree>
    <p:extLst>
      <p:ext uri="{BB962C8B-B14F-4D97-AF65-F5344CB8AC3E}">
        <p14:creationId xmlns:p14="http://schemas.microsoft.com/office/powerpoint/2010/main" val="8681232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117DD-152C-440E-BEF4-FCF8989F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40"/>
                </a:solidFill>
                <a:latin typeface="Microsoft YaHei"/>
                <a:ea typeface="Microsoft YaHei"/>
                <a:cs typeface="Microsoft YaHei"/>
              </a:rPr>
              <a:t>现场演示顺序与使用方式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4AA2B-6D0D-4DEA-9313-2E9AA691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按现场时间选讲评分、利润与情景案例；本页用于操作展示和问答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75241-E4A6-4770-8A2F-B62A504C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有色智研  ·  项目演示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6AFAF-48F5-4D4F-BBF4-EC7154FA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D7C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59A53-818F-4313-ADDD-2769DD6C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演示起点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74492-D59E-40C0-A8E9-9AF603F9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打开本地网页 → 欢迎页 → 带我试一次；说明本地导览不会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自动生成AI正文。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D2D09-ECCD-4C7E-B7A9-EDC4EC5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主要操作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91744-5CC7-41BE-8D79-1D97C616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选择公司 → 利润桥与分部 → 五维评分明细 → 经营情景或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板块矩阵 → 研究追问。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3DDE4-7D91-4E96-9365-AAF8A327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演示准备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55224-67C5-42D8-995F-1C059D5A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确认缓存与日期；配置模型密钥；保留联网失败提示。公开演示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不展开Wind本地补充区。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835C4-8790-4F20-B06A-2F2ED2E8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653F"/>
                </a:solidFill>
                <a:latin typeface="Microsoft YaHei"/>
                <a:ea typeface="Microsoft YaHei"/>
                <a:cs typeface="Microsoft YaHei"/>
              </a:rPr>
              <a:t>复现入口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29771-9E16-4876-A01F-4A1EE23B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796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python webui.py --port 7862；依赖与缓存要求见README</a:t>
            </a:r>
          </a:p>
          <a:p xmlns:a="http://schemas.openxmlformats.org/drawingml/2006/main">
            <a:pPr>
              <a:def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D50"/>
                </a:solidFill>
                <a:latin typeface="Microsoft YaHei"/>
                <a:ea typeface="Microsoft YaHei"/>
                <a:cs typeface="Microsoft YaHei"/>
              </a:rPr>
              <a:t>。生成研报需自备模型配置。</a:t>
            </a:r>
          </a:p>
        </p:txBody>
      </p:sp>
    </p:spTree>
    <p:extLst>
      <p:ext uri="{BB962C8B-B14F-4D97-AF65-F5344CB8AC3E}">
        <p14:creationId xmlns:p14="http://schemas.microsoft.com/office/powerpoint/2010/main" val="1035547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2026-09-09T07:41:57.6740000Z</dcterms:created>
  <dcterms:modified xsi:type="dcterms:W3CDTF">2026-09-09T07:41:57.6740000Z</dcterms:modified>
</coreProperties>
</file>